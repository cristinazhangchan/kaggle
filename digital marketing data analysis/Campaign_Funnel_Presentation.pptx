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Campaign Funnel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 i="0">
                <a:solidFill>
                  <a:srgbClr val="B8C4D4"/>
                </a:solidFill>
                <a:latin typeface="Calibri"/>
              </a:rPr>
              <a:t>A weak-supervision labeling pipeline + traffic 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F9E89"/>
                </a:solidFill>
                <a:latin typeface="Calibri"/>
              </a:rPr>
              <a:t>Part 1  —  Label every campaign as top- or bottom-funnel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9E89"/>
                </a:solidFill>
                <a:latin typeface="Calibri"/>
              </a:rPr>
              <a:t>Part 2  —  Correlate funnel strategy with website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Calibri"/>
              </a:rPr>
              <a:t>ds-assignment-1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BACKGROUND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3152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3A3A3A"/>
                </a:solidFill>
                <a:latin typeface="Calibri"/>
              </a:rPr>
              <a:t>An agency runs ad campaigns for many clients</a:t>
            </a:r>
          </a:p>
          <a:p>
            <a:pPr lvl="1">
              <a:spcAft>
                <a:spcPts val="12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–  Across Google Ads, Meta, TikTok and LinkedIn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3A3A3A"/>
                </a:solidFill>
                <a:latin typeface="Calibri"/>
              </a:rPr>
              <a:t>Every campaign has a funnel level</a:t>
            </a:r>
          </a:p>
          <a:p>
            <a:pPr lvl="1">
              <a:spcAft>
                <a:spcPts val="12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–  Top-funnel  —  reach new people, build awareness</a:t>
            </a:r>
          </a:p>
          <a:p>
            <a:pPr lvl="1">
              <a:spcAft>
                <a:spcPts val="12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–  Bottom-funnel  —  convert warm, high-intent audiences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3A3A3A"/>
                </a:solidFill>
                <a:latin typeface="Calibri"/>
              </a:rPr>
              <a:t>But clients never labeled this</a:t>
            </a:r>
          </a:p>
          <a:p>
            <a:pPr lvl="1">
              <a:spcAft>
                <a:spcPts val="12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–  There is no reliable funnel_level field in the data</a:t>
            </a:r>
          </a:p>
          <a:p>
            <a:pPr lvl="1">
              <a:spcAft>
                <a:spcPts val="12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–  Some campaign names hint at it, many do not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3A3A3A"/>
                </a:solidFill>
                <a:latin typeface="Calibri"/>
              </a:rPr>
              <a:t>Goal: produce a funnel label for every campaign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554480"/>
            <a:ext cx="3429000" cy="4480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83879" y="1554480"/>
            <a:ext cx="73152" cy="4480560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28800"/>
            <a:ext cx="29718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Why it matters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Top- and bottom-funnel campaigns are: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•  optimised differently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•  budgeted differently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•  reported differently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Without the label, performance cannot be analysed fairly.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METHOD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Approach: A Two-Stage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1">
                <a:solidFill>
                  <a:srgbClr val="3A3A3A"/>
                </a:solidFill>
                <a:latin typeface="Calibri"/>
              </a:rPr>
              <a:t>The catch: zero labels to start with — and a model cannot train without labeled examples.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02920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02920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2257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STAGE A  —  Heuristic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No model. Use rules to label the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campaigns we are confident about.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Each label gets a confidence tier.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3063240"/>
            <a:ext cx="731520" cy="731520"/>
          </a:xfrm>
          <a:prstGeom prst="rightArrow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2286000"/>
            <a:ext cx="502920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286000"/>
            <a:ext cx="5029200" cy="502920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32257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STAGE B  —  Trained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7180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Train a model on the confident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labels, then predict the funnel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level for ALL 637 campaigns.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2E75B6"/>
                </a:solidFill>
                <a:latin typeface="Calibri"/>
              </a:rPr>
              <a:t>This pattern — generating labels with rules, then training on them — is called weak supervision.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EXPLORATION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0604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  <a:latin typeface="Calibri"/>
              </a:rPr>
              <a:t>4,546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monthly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60604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72768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  <a:latin typeface="Calibri"/>
              </a:rPr>
              <a:t>637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campaigns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0604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72768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  <a:latin typeface="Calibri"/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63040"/>
            <a:ext cx="260604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572768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28600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ad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10972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One row per campaign per active month — over a 12-month period</a:t>
            </a:r>
          </a:p>
          <a:p>
            <a:pPr lvl="1">
              <a:spcAft>
                <a:spcPts val="13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Config fields (audience, objective, format) stay constant; only metrics vary</a:t>
            </a:r>
          </a:p>
          <a:p>
            <a:pPr lvl="1">
              <a:spcAft>
                <a:spcPts val="13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So the data must be aggregated to campaign level before modelling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Numeric metrics are heavily skewed — a log scale is needed to see them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A missing ROAS value is not random</a:t>
            </a:r>
          </a:p>
          <a:p>
            <a:pPr lvl="1">
              <a:spcAft>
                <a:spcPts val="13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It means the campaign never tracked conversion value — itself a funnel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EXPLORATION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EDA: Strong, Separable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Warm audiences (remarketing, customer list) show higher conversion rates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Broad / affinity audiences behave like classic top-funnel reach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The funnel signal is visible directly in the raw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080" y="3128855"/>
            <a:ext cx="11001360" cy="297773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88855"/>
            <a:ext cx="10881360" cy="28577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Click-through rate, conversion rate and CPM by audience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A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A: Five Independent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1">
                <a:solidFill>
                  <a:srgbClr val="3A3A3A"/>
                </a:solidFill>
                <a:latin typeface="Calibri"/>
              </a:rPr>
              <a:t>Each signal independently votes  top  or  bottom.  A majority vote sets the label.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2708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9728" cy="713232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Audience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57400"/>
            <a:ext cx="7406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A3A3A"/>
                </a:solidFill>
                <a:latin typeface="Calibri"/>
              </a:rPr>
              <a:t>remarketing → bottom    •    broad / affinity → 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98648"/>
            <a:ext cx="1092708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98648"/>
            <a:ext cx="109728" cy="713232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98648"/>
            <a:ext cx="7406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A3A3A"/>
                </a:solidFill>
                <a:latin typeface="Calibri"/>
              </a:rPr>
              <a:t>“awareness / reach” → top    •    “conversion / sales” → bottom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39896"/>
            <a:ext cx="1092708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39896"/>
            <a:ext cx="109728" cy="713232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39896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Optimization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39896"/>
            <a:ext cx="7406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A3A3A"/>
                </a:solidFill>
                <a:latin typeface="Calibri"/>
              </a:rPr>
              <a:t>impressions / views → top    •    purchase / lead → bottom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81144"/>
            <a:ext cx="1092708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81144"/>
            <a:ext cx="109728" cy="713232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81144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Ad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581144"/>
            <a:ext cx="7406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A3A3A"/>
                </a:solidFill>
                <a:latin typeface="Calibri"/>
              </a:rPr>
              <a:t>video → top    •    lead form / dynamic product ad → bottom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22392"/>
            <a:ext cx="1092708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422392"/>
            <a:ext cx="109728" cy="713232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22392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1B2A4A"/>
                </a:solidFill>
                <a:latin typeface="Calibri"/>
              </a:rPr>
              <a:t>Campaign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22392"/>
            <a:ext cx="7406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A3A3A"/>
                </a:solidFill>
                <a:latin typeface="Calibri"/>
              </a:rPr>
              <a:t>keyword match: “prospecting / launch” vs “retarget / branded”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093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Calibri"/>
              </a:rPr>
              <a:t>Confidence tier (high / medium / low) is set by HOW MANY signals agree.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A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A: How Do I Trust the Labels?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The signals are independent — so they can check each other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Pairwise agreement: when two signals both fire, how often do they match?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Agreement is consistently high → the heuristic is well-calibrated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2202" y="2911800"/>
            <a:ext cx="9877116" cy="33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02" y="2971800"/>
            <a:ext cx="9757116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Left: pairwise signal agreement rate   |   Right: overlap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A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A: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383280" cy="4480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91.7%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F9E89"/>
                </a:solidFill>
                <a:latin typeface="Calibri"/>
              </a:rPr>
              <a:t>of campaigns labeled
by rules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7132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High confidence  —  53%   (3+ signals all agree)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Medium confidence  —  32%   (clear majority)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Low confidence  —  7%   (single signal / conflict)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Unlabeled  —  8%   (no signal fired at 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343400"/>
            <a:ext cx="7132320" cy="1691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526280"/>
            <a:ext cx="6583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B2A4A"/>
                </a:solidFill>
                <a:latin typeface="Calibri"/>
              </a:rPr>
              <a:t>Key decision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Only HIGH + MEDIUM labels are used to train the model.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LOW + unlabeled campaigns become the model's prediction targets —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noisy labels are kept out of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B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B: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1">
                <a:solidFill>
                  <a:srgbClr val="3A3A3A"/>
                </a:solidFill>
                <a:latin typeface="Calibri"/>
              </a:rPr>
              <a:t>Three feature groups, built after aggregating each campaign to a single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611880" cy="3931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61188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3611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NUMERIC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1089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log(spend), log(impressions)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CTR, conversion rate, CPM, CPC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daily budget, active months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roas_tracked  (0 / 1 flag)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3611880" cy="3931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611880" cy="548640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29968"/>
            <a:ext cx="3611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31089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platform, objective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bidding strategy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optimization event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ad format, audience type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→ one-hot encoded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611880" cy="3931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611880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29968"/>
            <a:ext cx="3611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31089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campaign_name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→ TF-IDF (1–2 grams)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rare meaningful words</a:t>
            </a:r>
          </a:p>
          <a:p>
            <a:pPr>
              <a:spcAft>
                <a:spcPts val="110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•  get higher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B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B: Model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Two models compared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Logistic Regression — simple, fast, interpretable baseline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LightGBM — gradient-boosted trees, captures non-linear patterns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No deep learning — the dataset is too small; it would just overfit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GroupKFold cross-validation, split by customer_id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One client names all their campaigns alike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Mixing a client across train and test would leak that style → inflated score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Sample weights — high-confidence labels count more than medium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B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B: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Logistic Regression  AUC 0.994    •    LightGBM  AUC 0.985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Picked Logistic Regression — slightly better and simpler to explain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~97% cross-validated accuracy   →   final labels: 321 top / 316 bottom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2414155" y="2911800"/>
            <a:ext cx="7333209" cy="33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155" y="2971800"/>
            <a:ext cx="7213209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Confusion matrices from GroupKFold cross-validation (held-out customers)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STAGE B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Stage B: What the Model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3949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Top features match domain intuition</a:t>
            </a:r>
          </a:p>
          <a:p>
            <a:pPr lvl="1">
              <a:spcAft>
                <a:spcPts val="14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ROAS tracking, audience type and name keywords drive the prediction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A sanity check: the model learned real logic, not noise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978" y="1403040"/>
            <a:ext cx="5050603" cy="505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78" y="1463040"/>
            <a:ext cx="4930603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REFLECTION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Part 1: Validation &amp;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How much could Stage A label?  —  91.7%, with confidence tiers measured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Does the model generalise?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GroupKFold held out whole customers → the AUC is an honest estimate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Model agrees with Stage A on 97.6% of labels → consistent, not drifting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Honest limitation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There is no independent ground truth — model is judged against rule labels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If the rules share a bias, the model learns it and evaluation misses it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Next step: hand-label ~50 campaigns as a true, independent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PART 2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Part 2: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27080" cy="13716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1371600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241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B2A4A"/>
                </a:solidFill>
                <a:latin typeface="Calibri"/>
              </a:rPr>
              <a:t>Does a customer's mix of top- vs bottom-funnel activity leave a detectable fingerprint in how traffic arrives at their website?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New dataset — traffic.csv</a:t>
            </a:r>
          </a:p>
          <a:p>
            <a:pPr lvl="1">
              <a:spcAft>
                <a:spcPts val="13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One row per customer per month, same 12-month period</a:t>
            </a:r>
          </a:p>
          <a:p>
            <a:pPr lvl="1">
              <a:spcAft>
                <a:spcPts val="13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Traffic source: branded / non-branded search, direct, social, email, referral</a:t>
            </a:r>
          </a:p>
          <a:p>
            <a:pPr lvl="1">
              <a:spcAft>
                <a:spcPts val="13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Traffic quality: new-visitor rate, bounce rate, pages/session, conversion rate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Joined to the Part 1 labels via customer_id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PART 2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Part 2: Measuring Funnel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27080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27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Funnel mix  =  bottom-funnel spend  ÷  total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Why a SHARE, not raw spend?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Raw spend just measures customer size — big spenders would dominate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Why SPEND, not campaign count?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Spend reflects real investment — a $5,000 and a $10 campaign are not equal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A3A3A"/>
                </a:solidFill>
                <a:latin typeface="Calibri"/>
              </a:rPr>
              <a:t>Months with no campaigns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Funnel mix is genuinely undefined → those rows are dropped (3.9%)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–  Imputing 0 or 0.5 would invent a strategy that never existed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PART 2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Part 2: Funnel Strategy Shows Up in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949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A3A3A"/>
                </a:solidFill>
                <a:latin typeface="Calibri"/>
              </a:rPr>
              <a:t>More bottom-funnel → higher conversion rate, more direct &amp; branded traffic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A3A3A"/>
                </a:solidFill>
                <a:latin typeface="Calibri"/>
              </a:rPr>
              <a:t>More top-funnel → more new visitors, higher bounce, more social &amp; non-brand search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A3A3A"/>
                </a:solidFill>
                <a:latin typeface="Calibri"/>
              </a:rPr>
              <a:t>Strong correlations — many above 0.7 in magnitude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080" y="1471399"/>
            <a:ext cx="5697840" cy="492104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1399"/>
            <a:ext cx="5577840" cy="48010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9E89"/>
                </a:solidFill>
                <a:latin typeface="Calibri"/>
              </a:rPr>
              <a:t>PART 2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Part 2: A Story for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Customers grouped into top-heavy, balanced and bottom-heavy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Their typical traffic profiles are compared side by side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1F9E89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A3A3A"/>
                </a:solidFill>
                <a:latin typeface="Calibri"/>
              </a:rPr>
              <a:t>One clear picture communicates the finding better than a correlation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7909" y="2957520"/>
            <a:ext cx="9825702" cy="33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09" y="3017520"/>
            <a:ext cx="9705702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Traffic source mix and traffic quality by funnel strategy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Delivered   </a:t>
            </a:r>
            <a:r>
              <a:rPr sz="1700" b="0" i="0">
                <a:solidFill>
                  <a:srgbClr val="DDE3EC"/>
                </a:solidFill>
                <a:latin typeface="Calibri"/>
              </a:rPr>
              <a:t>A two-stage weak-supervision pipeline labeled all 637 campaigns with a funnel level, a probability, and a confidence score.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Finding   </a:t>
            </a:r>
            <a:r>
              <a:rPr sz="1700" b="0" i="0">
                <a:solidFill>
                  <a:srgbClr val="DDE3EC"/>
                </a:solidFill>
                <a:latin typeface="Calibri"/>
              </a:rPr>
              <a:t>Funnel strategy leaves a clear fingerprint in website traffic — bottom-heavy customers convert better and rely on direct &amp; branded traffic.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Limitation   </a:t>
            </a:r>
            <a:r>
              <a:rPr sz="1700" b="0" i="0">
                <a:solidFill>
                  <a:srgbClr val="DDE3EC"/>
                </a:solidFill>
                <a:latin typeface="Calibri"/>
              </a:rPr>
              <a:t>No independent ground truth; Part 1 labels are model predictions, so that error propagates into Part 2. Correlation is not causation.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1F9E89"/>
                </a:solidFill>
                <a:latin typeface="Calibri"/>
              </a:rPr>
              <a:t>Next steps   </a:t>
            </a:r>
            <a:r>
              <a:rPr sz="1700" b="0" i="0">
                <a:solidFill>
                  <a:srgbClr val="DDE3EC"/>
                </a:solidFill>
                <a:latin typeface="Calibri"/>
              </a:rPr>
              <a:t>Hand-label a real test set; re-run Part 2 using only high-confidence campaigns as a robustness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6B7280"/>
                </a:solidFill>
                <a:latin typeface="Calibri"/>
              </a:rPr>
              <a:t>Thank you  —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